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Oswald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6" roundtripDataSignature="AMtx7mi8La9Qf8FoPp6IcLpM/rec2Yor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Oswald-bold.fntdata"/><Relationship Id="rId14" Type="http://schemas.openxmlformats.org/officeDocument/2006/relationships/font" Target="fonts/Oswald-regular.fntdata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" name="Google Shape;7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e77f731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g3ee77f731d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b5749b8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g3fb5749b895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" name="Google Shape;10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miter lim="0"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title"/>
          </p:nvPr>
        </p:nvSpPr>
        <p:spPr>
          <a:xfrm>
            <a:off x="457200" y="-476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body"/>
          </p:nvPr>
        </p:nvSpPr>
        <p:spPr>
          <a:xfrm>
            <a:off x="457200" y="1095375"/>
            <a:ext cx="8229600" cy="50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42900" lvl="1" marL="9144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indent="-342900" lvl="2" marL="13716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indent="-342900" lvl="4" marL="22860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indent="-342900" lvl="5" marL="27432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200"/>
              <a:buFont typeface="Oswald"/>
              <a:buNone/>
              <a:defRPr b="0" i="0" sz="1200" u="none" cap="none" strike="noStrik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0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3" name="Google Shape;23;p1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1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1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6" name="Google Shape;46;p1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0" name="Google Shape;50;p1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1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5" name="Google Shape;55;p2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8" name="Google Shape;58;p2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9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"/>
          <p:cNvSpPr txBox="1"/>
          <p:nvPr/>
        </p:nvSpPr>
        <p:spPr>
          <a:xfrm>
            <a:off x="287750" y="1449275"/>
            <a:ext cx="84423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b="1" i="0" lang="en-US" sz="4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 Title</a:t>
            </a:r>
            <a:br>
              <a:rPr b="1" i="0" lang="en-US" sz="4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48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Team names (Name and Surname)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Organization(s)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Team role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800"/>
              <a:buFont typeface="Arial"/>
              <a:buNone/>
            </a:pP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457200" y="4445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727272"/>
                </a:solidFill>
                <a:latin typeface="Arial"/>
                <a:ea typeface="Arial"/>
                <a:cs typeface="Arial"/>
                <a:sym typeface="Arial"/>
              </a:rPr>
              <a:t>The Problem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1168350" y="1802825"/>
            <a:ext cx="680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Define the real problem/need you are solving, and for who.</a:t>
            </a: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How is that problem handled today?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457200" y="-476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727272"/>
                </a:solidFill>
              </a:rPr>
              <a:t>SOLUTION (</a:t>
            </a:r>
            <a:r>
              <a:rPr b="1" i="0" lang="en-US" sz="4400" u="none">
                <a:solidFill>
                  <a:srgbClr val="727272"/>
                </a:solidFill>
                <a:latin typeface="Arial"/>
                <a:ea typeface="Arial"/>
                <a:cs typeface="Arial"/>
                <a:sym typeface="Arial"/>
              </a:rPr>
              <a:t>Product / Service</a:t>
            </a:r>
            <a:r>
              <a:rPr b="1" lang="en-US" sz="4400">
                <a:solidFill>
                  <a:srgbClr val="727272"/>
                </a:solidFill>
              </a:rPr>
              <a:t>)</a:t>
            </a:r>
            <a:br>
              <a:rPr b="1" lang="en-US" sz="4400">
                <a:solidFill>
                  <a:srgbClr val="727272"/>
                </a:solidFill>
              </a:rPr>
            </a:br>
            <a:endParaRPr b="1" sz="5200">
              <a:solidFill>
                <a:srgbClr val="727272"/>
              </a:solidFill>
            </a:endParaRPr>
          </a:p>
        </p:txBody>
      </p:sp>
      <p:sp>
        <p:nvSpPr>
          <p:cNvPr id="76" name="Google Shape;76;p4"/>
          <p:cNvSpPr txBox="1"/>
          <p:nvPr/>
        </p:nvSpPr>
        <p:spPr>
          <a:xfrm>
            <a:off x="457200" y="868150"/>
            <a:ext cx="8229600" cy="163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What is your solution </a:t>
            </a:r>
            <a:r>
              <a:rPr b="0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(starting with TRL 1/2)</a:t>
            </a: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What are the technology components of your solution?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1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Tell the story of your customer and how customers use/value your product or service is offering; 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br>
              <a:rPr b="1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000" u="none" cap="none" strike="noStrike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5"/>
          <p:cNvSpPr txBox="1"/>
          <p:nvPr>
            <p:ph type="title"/>
          </p:nvPr>
        </p:nvSpPr>
        <p:spPr>
          <a:xfrm>
            <a:off x="457200" y="-4762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727272"/>
                </a:solidFill>
                <a:latin typeface="Arial"/>
                <a:ea typeface="Arial"/>
                <a:cs typeface="Arial"/>
                <a:sym typeface="Arial"/>
              </a:rPr>
              <a:t>Market </a:t>
            </a:r>
            <a:r>
              <a:rPr b="1" lang="en-US" sz="4400">
                <a:solidFill>
                  <a:srgbClr val="727272"/>
                </a:solidFill>
              </a:rPr>
              <a:t>/ Users</a:t>
            </a:r>
            <a:endParaRPr/>
          </a:p>
        </p:txBody>
      </p:sp>
      <p:sp>
        <p:nvSpPr>
          <p:cNvPr id="82" name="Google Shape;82;p5"/>
          <p:cNvSpPr txBox="1"/>
          <p:nvPr/>
        </p:nvSpPr>
        <p:spPr>
          <a:xfrm>
            <a:off x="1323750" y="1607700"/>
            <a:ext cx="66723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Define Your Market (size, geography, trends and insights); </a:t>
            </a: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Define Users (primary and secondary);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What business/space are you in? 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e77f731d5_0_0"/>
          <p:cNvSpPr txBox="1"/>
          <p:nvPr>
            <p:ph type="title"/>
          </p:nvPr>
        </p:nvSpPr>
        <p:spPr>
          <a:xfrm>
            <a:off x="457200" y="784475"/>
            <a:ext cx="82296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727272"/>
                </a:solidFill>
              </a:rPr>
              <a:t>Unique value proposition and competition</a:t>
            </a:r>
            <a:endParaRPr/>
          </a:p>
        </p:txBody>
      </p:sp>
      <p:sp>
        <p:nvSpPr>
          <p:cNvPr id="88" name="Google Shape;88;g3ee77f731d5_0_0"/>
          <p:cNvSpPr txBox="1"/>
          <p:nvPr/>
        </p:nvSpPr>
        <p:spPr>
          <a:xfrm>
            <a:off x="1235850" y="2008775"/>
            <a:ext cx="66723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Does similar solutions exist (competition/partners)?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fb5749b895_0_0"/>
          <p:cNvSpPr txBox="1"/>
          <p:nvPr>
            <p:ph type="title"/>
          </p:nvPr>
        </p:nvSpPr>
        <p:spPr>
          <a:xfrm>
            <a:off x="457200" y="784475"/>
            <a:ext cx="8229600" cy="138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727272"/>
                </a:solidFill>
              </a:rPr>
              <a:t>Business model</a:t>
            </a:r>
            <a:br>
              <a:rPr b="1" lang="en-US" sz="4400">
                <a:solidFill>
                  <a:srgbClr val="727272"/>
                </a:solidFill>
              </a:rPr>
            </a:br>
            <a:r>
              <a:rPr lang="en-US" sz="2700">
                <a:solidFill>
                  <a:srgbClr val="727272"/>
                </a:solidFill>
              </a:rPr>
              <a:t>how you create, deliver and capture value.</a:t>
            </a:r>
            <a:br>
              <a:rPr lang="en-US" sz="2700">
                <a:solidFill>
                  <a:srgbClr val="727272"/>
                </a:solidFill>
              </a:rPr>
            </a:br>
            <a:br>
              <a:rPr lang="en-US" sz="2700">
                <a:solidFill>
                  <a:srgbClr val="727272"/>
                </a:solidFill>
              </a:rPr>
            </a:br>
            <a:r>
              <a:rPr lang="en-US" sz="2700">
                <a:solidFill>
                  <a:srgbClr val="727272"/>
                </a:solidFill>
              </a:rPr>
              <a:t>Examples:</a:t>
            </a:r>
            <a:endParaRPr sz="27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727272"/>
              </a:solidFill>
            </a:endParaRPr>
          </a:p>
          <a:p>
            <a:pPr indent="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27272"/>
                </a:solidFill>
              </a:rPr>
              <a:t>1.</a:t>
            </a:r>
            <a:r>
              <a:rPr lang="en-US" sz="2000">
                <a:solidFill>
                  <a:srgbClr val="727272"/>
                </a:solidFill>
              </a:rPr>
              <a:t>Subscription - customers pay regularly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2.Freemium - basic service is free; advanced features are paid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3.Marketplace - connects buyers and sellers and takes fee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4.Direct sales - company sells directly to customers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5.Advertising - service is free, revenues comes from adv.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6.Licensing - cusotmers pay to use IP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7.Franchise - others pay to operate using your model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8.Pay-per-use - customers pay per usage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9.B2B (others) - provide services to organization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10.Razor n blade - main product is cheap, recurring consumables generate revenue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11.Platform - creates ecosystem connecting different groups</a:t>
            </a:r>
            <a:endParaRPr sz="2000">
              <a:solidFill>
                <a:srgbClr val="72727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727272"/>
                </a:solidFill>
              </a:rPr>
              <a:t>12.Public, grant funded</a:t>
            </a:r>
            <a:br>
              <a:rPr lang="en-US" sz="2000">
                <a:solidFill>
                  <a:srgbClr val="727272"/>
                </a:solidFill>
              </a:rPr>
            </a:br>
            <a:r>
              <a:rPr lang="en-US" sz="2000">
                <a:solidFill>
                  <a:srgbClr val="727272"/>
                </a:solidFill>
              </a:rPr>
              <a:t>…</a:t>
            </a:r>
            <a:endParaRPr sz="2000">
              <a:solidFill>
                <a:srgbClr val="72727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"/>
          <p:cNvSpPr txBox="1"/>
          <p:nvPr>
            <p:ph type="title"/>
          </p:nvPr>
        </p:nvSpPr>
        <p:spPr>
          <a:xfrm>
            <a:off x="457200" y="676675"/>
            <a:ext cx="8229600" cy="94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rPr b="1" lang="en-US" sz="4400">
                <a:solidFill>
                  <a:srgbClr val="727272"/>
                </a:solidFill>
              </a:rPr>
              <a:t>What is next step (development plan)?</a:t>
            </a:r>
            <a:endParaRPr b="1" sz="4400">
              <a:solidFill>
                <a:srgbClr val="727272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t/>
            </a:r>
            <a:endParaRPr b="1" sz="4400">
              <a:solidFill>
                <a:srgbClr val="727272"/>
              </a:solidFill>
            </a:endParaRPr>
          </a:p>
        </p:txBody>
      </p:sp>
      <p:sp>
        <p:nvSpPr>
          <p:cNvPr id="99" name="Google Shape;99;p7"/>
          <p:cNvSpPr txBox="1"/>
          <p:nvPr/>
        </p:nvSpPr>
        <p:spPr>
          <a:xfrm>
            <a:off x="773250" y="2031475"/>
            <a:ext cx="7597500" cy="40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Future development plan (up to TRL 8/9):</a:t>
            </a: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Who could adopt (license) or buy this if PoC is successful?</a:t>
            </a: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What is the main barrier to uptake?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Regulatory risks?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Operational risks? 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Intellectual property protection?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t/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Opportunities</a:t>
            </a: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Local Innovation Funds (Serbia, Montenegro, and others)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Science-Technology park support through their programs (Belgrade, Podgorica, Šibenik, and others)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EIT Water Open calls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InnovaBlue: Blue fund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655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7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Joining other Blue projects for development, e.g., ROBONETCBC</a:t>
            </a:r>
            <a:endParaRPr b="0" i="0" sz="17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Arial"/>
              <a:buChar char="●"/>
            </a:pPr>
            <a:r>
              <a:rPr b="0" i="0" lang="en-US" sz="17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Other: meetings, site visits, data-sharing agreement, etc.</a:t>
            </a: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1" i="0" lang="en-US" sz="2100" u="none" cap="none" strike="noStrik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</a:br>
            <a:endParaRPr b="1" i="0" sz="21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>
            <p:ph type="title"/>
          </p:nvPr>
        </p:nvSpPr>
        <p:spPr>
          <a:xfrm>
            <a:off x="457200" y="284650"/>
            <a:ext cx="8229600" cy="43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27272"/>
              </a:buClr>
              <a:buSzPts val="4400"/>
              <a:buFont typeface="Arial"/>
              <a:buNone/>
            </a:pPr>
            <a:r>
              <a:rPr b="1" i="0" lang="en-US" sz="4400" u="none">
                <a:solidFill>
                  <a:srgbClr val="727272"/>
                </a:solidFill>
                <a:latin typeface="Arial"/>
                <a:ea typeface="Arial"/>
                <a:cs typeface="Arial"/>
                <a:sym typeface="Arial"/>
              </a:rPr>
              <a:t>Thanks &amp; </a:t>
            </a:r>
            <a:r>
              <a:rPr b="1" lang="en-US" sz="4400">
                <a:solidFill>
                  <a:srgbClr val="727272"/>
                </a:solidFill>
              </a:rPr>
              <a:t>Motivational sentence to involve audience and funders</a:t>
            </a:r>
            <a:endParaRPr/>
          </a:p>
        </p:txBody>
      </p:sp>
      <p:sp>
        <p:nvSpPr>
          <p:cNvPr id="105" name="Google Shape;105;p8"/>
          <p:cNvSpPr txBox="1"/>
          <p:nvPr/>
        </p:nvSpPr>
        <p:spPr>
          <a:xfrm>
            <a:off x="1457325" y="1536700"/>
            <a:ext cx="6569075" cy="4094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Oswald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